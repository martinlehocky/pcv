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7"/>
    <p:restoredTop sz="94633"/>
  </p:normalViewPr>
  <p:slideViewPr>
    <p:cSldViewPr snapToGrid="0" snapToObjects="1">
      <p:cViewPr>
        <p:scale>
          <a:sx n="100" d="100"/>
          <a:sy n="100" d="100"/>
        </p:scale>
        <p:origin x="1184" y="5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100" dirty="0" err="1"/>
              <a:t>Podniková</a:t>
            </a:r>
            <a:r>
              <a:rPr lang="en-US" sz="5100" dirty="0"/>
              <a:t> </a:t>
            </a:r>
            <a:r>
              <a:rPr lang="en-US" sz="5100" dirty="0" err="1"/>
              <a:t>sieť</a:t>
            </a:r>
            <a:r>
              <a:rPr lang="en-US" sz="5100" dirty="0"/>
              <a:t> s </a:t>
            </a:r>
            <a:r>
              <a:rPr lang="en-US" sz="5100" dirty="0" err="1"/>
              <a:t>VLANmi</a:t>
            </a:r>
            <a:endParaRPr lang="en-US" sz="51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400" dirty="0" err="1"/>
              <a:t>Bezpečná</a:t>
            </a:r>
            <a:r>
              <a:rPr lang="en-US" sz="2400" dirty="0"/>
              <a:t> </a:t>
            </a:r>
            <a:r>
              <a:rPr lang="en-US" sz="2400" dirty="0" err="1"/>
              <a:t>segmentácia</a:t>
            </a:r>
            <a:r>
              <a:rPr lang="en-US" sz="2400" dirty="0"/>
              <a:t> </a:t>
            </a:r>
            <a:r>
              <a:rPr lang="en-US" sz="2400" dirty="0" err="1"/>
              <a:t>siete</a:t>
            </a:r>
            <a:r>
              <a:rPr lang="en-US" sz="2400" dirty="0"/>
              <a:t> a </a:t>
            </a:r>
            <a:r>
              <a:rPr lang="en-US" sz="2400" dirty="0" err="1"/>
              <a:t>smerovanie</a:t>
            </a:r>
            <a:r>
              <a:rPr lang="en-US" sz="2400" dirty="0"/>
              <a:t> </a:t>
            </a:r>
            <a:r>
              <a:rPr lang="en-US" sz="2400" dirty="0" err="1"/>
              <a:t>medzi</a:t>
            </a:r>
            <a:r>
              <a:rPr lang="en-US" sz="2400" dirty="0"/>
              <a:t> </a:t>
            </a:r>
            <a:r>
              <a:rPr lang="en-US" sz="2400" dirty="0" err="1"/>
              <a:t>VLANmi</a:t>
            </a:r>
            <a:endParaRPr lang="en-US" sz="2400" dirty="0"/>
          </a:p>
          <a:p>
            <a:r>
              <a:rPr lang="en-US" sz="2400" dirty="0"/>
              <a:t>Projekt: Cisco Packet Tracer - </a:t>
            </a:r>
            <a:r>
              <a:rPr lang="en-US" sz="2400" dirty="0" err="1"/>
              <a:t>Úloha</a:t>
            </a:r>
            <a:r>
              <a:rPr lang="en-US" sz="2400" dirty="0"/>
              <a:t>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7E8604-420E-005C-7643-E5D9F730EF6A}"/>
              </a:ext>
            </a:extLst>
          </p:cNvPr>
          <p:cNvSpPr txBox="1"/>
          <p:nvPr/>
        </p:nvSpPr>
        <p:spPr>
          <a:xfrm>
            <a:off x="1075767" y="5669363"/>
            <a:ext cx="2238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Martin </a:t>
            </a:r>
            <a:r>
              <a:rPr lang="en-US" dirty="0" err="1"/>
              <a:t>Lehocký</a:t>
            </a:r>
            <a:r>
              <a:rPr lang="en-US" dirty="0"/>
              <a:t> 2.PDT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network&#10;&#10;AI-generated content may be incorrect.">
            <a:extLst>
              <a:ext uri="{FF2B5EF4-FFF2-40B4-BE49-F238E27FC236}">
                <a16:creationId xmlns:a16="http://schemas.microsoft.com/office/drawing/2014/main" id="{ED4117C7-4F5E-011C-C235-E6A5B1B82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6396" y="643466"/>
            <a:ext cx="645920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791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Topológia siete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sz="2500" dirty="0" err="1"/>
              <a:t>Popis</a:t>
            </a:r>
            <a:r>
              <a:rPr sz="2500" dirty="0"/>
              <a:t> </a:t>
            </a:r>
            <a:r>
              <a:rPr sz="2500" dirty="0" err="1"/>
              <a:t>topológie</a:t>
            </a:r>
            <a:r>
              <a:rPr sz="2500" dirty="0"/>
              <a:t>:</a:t>
            </a:r>
          </a:p>
          <a:p>
            <a:pPr>
              <a:lnSpc>
                <a:spcPct val="90000"/>
              </a:lnSpc>
            </a:pPr>
            <a:r>
              <a:rPr sz="2500" dirty="0"/>
              <a:t>Router (ISR 4321) </a:t>
            </a:r>
            <a:r>
              <a:rPr sz="2500" dirty="0" err="1"/>
              <a:t>na</a:t>
            </a:r>
            <a:r>
              <a:rPr sz="2500" dirty="0"/>
              <a:t> centrum </a:t>
            </a:r>
            <a:r>
              <a:rPr sz="2500" dirty="0" err="1"/>
              <a:t>siete</a:t>
            </a:r>
            <a:endParaRPr sz="2500" dirty="0"/>
          </a:p>
          <a:p>
            <a:pPr>
              <a:lnSpc>
                <a:spcPct val="90000"/>
              </a:lnSpc>
            </a:pPr>
            <a:r>
              <a:rPr sz="2500" dirty="0"/>
              <a:t>Switch (2960) </a:t>
            </a:r>
            <a:r>
              <a:rPr sz="2500" dirty="0" err="1"/>
              <a:t>ako</a:t>
            </a:r>
            <a:r>
              <a:rPr sz="2500" dirty="0"/>
              <a:t> </a:t>
            </a:r>
            <a:r>
              <a:rPr sz="2500" dirty="0" err="1"/>
              <a:t>hlavný</a:t>
            </a:r>
            <a:r>
              <a:rPr sz="2500" dirty="0"/>
              <a:t> </a:t>
            </a:r>
            <a:r>
              <a:rPr sz="2500" dirty="0" err="1"/>
              <a:t>prvok</a:t>
            </a:r>
            <a:r>
              <a:rPr sz="2500" dirty="0"/>
              <a:t> </a:t>
            </a:r>
            <a:r>
              <a:rPr sz="2500" dirty="0" err="1"/>
              <a:t>distribúcie</a:t>
            </a:r>
            <a:endParaRPr sz="2500" dirty="0"/>
          </a:p>
          <a:p>
            <a:pPr>
              <a:lnSpc>
                <a:spcPct val="90000"/>
              </a:lnSpc>
            </a:pPr>
            <a:r>
              <a:rPr sz="2500" dirty="0"/>
              <a:t>2 Access Pointy pre </a:t>
            </a:r>
            <a:r>
              <a:rPr sz="2500" dirty="0" err="1"/>
              <a:t>bezdrôtový</a:t>
            </a:r>
            <a:r>
              <a:rPr sz="2500" dirty="0"/>
              <a:t> </a:t>
            </a:r>
            <a:r>
              <a:rPr sz="2500" dirty="0" err="1"/>
              <a:t>prístup</a:t>
            </a:r>
            <a:endParaRPr sz="2500" dirty="0"/>
          </a:p>
          <a:p>
            <a:pPr>
              <a:lnSpc>
                <a:spcPct val="90000"/>
              </a:lnSpc>
            </a:pPr>
            <a:r>
              <a:rPr sz="2500" dirty="0"/>
              <a:t>6 </a:t>
            </a:r>
            <a:r>
              <a:rPr sz="2500" dirty="0" err="1"/>
              <a:t>koncových</a:t>
            </a:r>
            <a:r>
              <a:rPr sz="2500" dirty="0"/>
              <a:t> </a:t>
            </a:r>
            <a:r>
              <a:rPr sz="2500" dirty="0" err="1"/>
              <a:t>zariadení</a:t>
            </a:r>
            <a:r>
              <a:rPr sz="2500" dirty="0"/>
              <a:t> v </a:t>
            </a:r>
            <a:r>
              <a:rPr sz="2500" dirty="0" err="1"/>
              <a:t>rôznych</a:t>
            </a:r>
            <a:r>
              <a:rPr sz="2500" dirty="0"/>
              <a:t> </a:t>
            </a:r>
            <a:r>
              <a:rPr sz="2500" dirty="0" err="1"/>
              <a:t>VLANoch</a:t>
            </a:r>
            <a:endParaRPr sz="2500" dirty="0"/>
          </a:p>
          <a:p>
            <a:pPr>
              <a:lnSpc>
                <a:spcPct val="90000"/>
              </a:lnSpc>
            </a:pPr>
            <a:endParaRPr sz="2500" dirty="0"/>
          </a:p>
          <a:p>
            <a:pPr>
              <a:lnSpc>
                <a:spcPct val="90000"/>
              </a:lnSpc>
            </a:pPr>
            <a:r>
              <a:rPr sz="2500" dirty="0" err="1"/>
              <a:t>Technológia</a:t>
            </a:r>
            <a:r>
              <a:rPr sz="2500" dirty="0"/>
              <a:t>:</a:t>
            </a:r>
          </a:p>
          <a:p>
            <a:pPr>
              <a:lnSpc>
                <a:spcPct val="90000"/>
              </a:lnSpc>
            </a:pPr>
            <a:r>
              <a:rPr sz="2500" dirty="0"/>
              <a:t>Router-on-a-Stick </a:t>
            </a:r>
            <a:r>
              <a:rPr sz="2500" dirty="0" err="1"/>
              <a:t>architektúra</a:t>
            </a:r>
            <a:endParaRPr sz="2500" dirty="0"/>
          </a:p>
          <a:p>
            <a:pPr>
              <a:lnSpc>
                <a:spcPct val="90000"/>
              </a:lnSpc>
            </a:pPr>
            <a:r>
              <a:rPr sz="2500" dirty="0"/>
              <a:t>802.1Q VLAN </a:t>
            </a:r>
            <a:r>
              <a:rPr sz="2500" dirty="0" err="1"/>
              <a:t>tagovanie</a:t>
            </a:r>
            <a:r>
              <a:rPr sz="2500" dirty="0"/>
              <a:t> </a:t>
            </a:r>
            <a:r>
              <a:rPr sz="2500" dirty="0" err="1"/>
              <a:t>na</a:t>
            </a:r>
            <a:r>
              <a:rPr sz="2500" dirty="0"/>
              <a:t> trunk </a:t>
            </a:r>
            <a:r>
              <a:rPr sz="2500" dirty="0" err="1"/>
              <a:t>porte</a:t>
            </a:r>
            <a:endParaRPr sz="2500" dirty="0"/>
          </a:p>
          <a:p>
            <a:pPr>
              <a:lnSpc>
                <a:spcPct val="90000"/>
              </a:lnSpc>
            </a:pPr>
            <a:r>
              <a:rPr sz="2500" dirty="0"/>
              <a:t>DHCP </a:t>
            </a:r>
            <a:r>
              <a:rPr sz="2500" dirty="0" err="1"/>
              <a:t>servery</a:t>
            </a:r>
            <a:r>
              <a:rPr sz="2500" dirty="0"/>
              <a:t> pre </a:t>
            </a:r>
            <a:r>
              <a:rPr sz="2500" dirty="0" err="1"/>
              <a:t>automatickú</a:t>
            </a:r>
            <a:r>
              <a:rPr sz="2500" dirty="0"/>
              <a:t> </a:t>
            </a:r>
            <a:r>
              <a:rPr sz="2500" dirty="0" err="1"/>
              <a:t>prideľovaciu</a:t>
            </a:r>
            <a:r>
              <a:rPr sz="2500" dirty="0"/>
              <a:t> IP </a:t>
            </a:r>
            <a:r>
              <a:rPr sz="2500" dirty="0" err="1"/>
              <a:t>adries</a:t>
            </a:r>
            <a:endParaRPr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US" sz="5200" dirty="0"/>
              <a:t>VLAN </a:t>
            </a:r>
            <a:r>
              <a:rPr lang="en-US" sz="5200" dirty="0" err="1"/>
              <a:t>tabuľka</a:t>
            </a:r>
            <a:r>
              <a:rPr lang="en-US" sz="5200" dirty="0"/>
              <a:t> a </a:t>
            </a:r>
            <a:r>
              <a:rPr lang="en-US" sz="5200" dirty="0" err="1"/>
              <a:t>podsiete</a:t>
            </a:r>
            <a:endParaRPr lang="en-US" sz="5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VLAN 10 – Management – 192.168.10.0/24 – </a:t>
            </a:r>
            <a:r>
              <a:rPr lang="en-US" sz="2000" dirty="0" err="1"/>
              <a:t>Brána</a:t>
            </a:r>
            <a:r>
              <a:rPr lang="en-US" sz="2000" dirty="0"/>
              <a:t> 192.168.10.1 – </a:t>
            </a:r>
            <a:r>
              <a:rPr lang="en-US" sz="2000" dirty="0" err="1"/>
              <a:t>Administrátori</a:t>
            </a:r>
            <a:endParaRPr lang="en-US" sz="2000" dirty="0"/>
          </a:p>
          <a:p>
            <a:r>
              <a:rPr lang="en-US" sz="2000" dirty="0"/>
              <a:t>VLAN 20 – </a:t>
            </a:r>
            <a:r>
              <a:rPr lang="en-US" sz="2000" dirty="0" err="1"/>
              <a:t>Zamestnanci</a:t>
            </a:r>
            <a:r>
              <a:rPr lang="en-US" sz="2000" dirty="0"/>
              <a:t> – 192.168.20.0/24 – </a:t>
            </a:r>
            <a:r>
              <a:rPr lang="en-US" sz="2000" dirty="0" err="1"/>
              <a:t>Brána</a:t>
            </a:r>
            <a:r>
              <a:rPr lang="en-US" sz="2000" dirty="0"/>
              <a:t> 192.168.20.1 – </a:t>
            </a:r>
            <a:r>
              <a:rPr lang="en-US" sz="2000" dirty="0" err="1"/>
              <a:t>Kábel</a:t>
            </a:r>
            <a:r>
              <a:rPr lang="en-US" sz="2000" dirty="0"/>
              <a:t> + Wi-Fi</a:t>
            </a:r>
          </a:p>
          <a:p>
            <a:r>
              <a:rPr lang="en-US" sz="2000" dirty="0"/>
              <a:t>VLAN 30 – </a:t>
            </a:r>
            <a:r>
              <a:rPr lang="en-US" sz="2000" dirty="0" err="1"/>
              <a:t>Servery</a:t>
            </a:r>
            <a:r>
              <a:rPr lang="en-US" sz="2000" dirty="0"/>
              <a:t> – 192.168.30.0/24 – </a:t>
            </a:r>
            <a:r>
              <a:rPr lang="en-US" sz="2000" dirty="0" err="1"/>
              <a:t>Brána</a:t>
            </a:r>
            <a:r>
              <a:rPr lang="en-US" sz="2000" dirty="0"/>
              <a:t> 192.168.30.1 – HTTP, FTP</a:t>
            </a:r>
          </a:p>
          <a:p>
            <a:r>
              <a:rPr lang="en-US" sz="2000" dirty="0"/>
              <a:t>VLAN 40 – </a:t>
            </a:r>
            <a:r>
              <a:rPr lang="en-US" sz="2000" dirty="0" err="1"/>
              <a:t>Kamery</a:t>
            </a:r>
            <a:r>
              <a:rPr lang="en-US" sz="2000" dirty="0"/>
              <a:t> – 192.168.40.0/24 – </a:t>
            </a:r>
            <a:r>
              <a:rPr lang="en-US" sz="2000" dirty="0" err="1"/>
              <a:t>Brána</a:t>
            </a:r>
            <a:r>
              <a:rPr lang="en-US" sz="2000" dirty="0"/>
              <a:t> 192.168.40.1 – </a:t>
            </a:r>
            <a:r>
              <a:rPr lang="en-US" sz="2000" dirty="0" err="1"/>
              <a:t>Bezpečnosť</a:t>
            </a:r>
            <a:r>
              <a:rPr lang="en-US" sz="2000" dirty="0"/>
              <a:t>, IoT</a:t>
            </a:r>
          </a:p>
          <a:p>
            <a:r>
              <a:rPr lang="en-US" sz="2000" dirty="0"/>
              <a:t>VLAN 50 – </a:t>
            </a:r>
            <a:r>
              <a:rPr lang="en-US" sz="2000" dirty="0" err="1"/>
              <a:t>Hostia</a:t>
            </a:r>
            <a:r>
              <a:rPr lang="en-US" sz="2000" dirty="0"/>
              <a:t> – 192.168.50.0/24 – </a:t>
            </a:r>
            <a:r>
              <a:rPr lang="en-US" sz="2000" dirty="0" err="1"/>
              <a:t>Brána</a:t>
            </a:r>
            <a:r>
              <a:rPr lang="en-US" sz="2000" dirty="0"/>
              <a:t> 192.168.50.1 – Guest Wi-Fi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dirty="0" err="1"/>
              <a:t>Čo</a:t>
            </a:r>
            <a:r>
              <a:rPr lang="en-US" sz="4800" dirty="0"/>
              <a:t> </a:t>
            </a:r>
            <a:r>
              <a:rPr lang="en-US" sz="4800" dirty="0" err="1"/>
              <a:t>sú</a:t>
            </a:r>
            <a:r>
              <a:rPr lang="en-US" sz="4800" dirty="0"/>
              <a:t> </a:t>
            </a:r>
            <a:r>
              <a:rPr lang="en-US" sz="4800" dirty="0" err="1"/>
              <a:t>VLANy</a:t>
            </a:r>
            <a:r>
              <a:rPr lang="en-US" sz="4800" dirty="0"/>
              <a:t> a </a:t>
            </a:r>
            <a:r>
              <a:rPr lang="en-US" sz="4800" dirty="0" err="1"/>
              <a:t>prečo</a:t>
            </a:r>
            <a:r>
              <a:rPr lang="en-US" sz="4800" dirty="0"/>
              <a:t> ich </a:t>
            </a:r>
            <a:r>
              <a:rPr lang="en-US" sz="4800" dirty="0" err="1"/>
              <a:t>používame</a:t>
            </a:r>
            <a:r>
              <a:rPr lang="en-US" sz="4800" dirty="0"/>
              <a:t>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/>
              <a:t>VLAN = Virtual Local Area Network</a:t>
            </a:r>
          </a:p>
          <a:p>
            <a:pPr>
              <a:lnSpc>
                <a:spcPct val="90000"/>
              </a:lnSpc>
            </a:pPr>
            <a:r>
              <a:rPr lang="en-US" sz="2200" dirty="0" err="1"/>
              <a:t>Logické</a:t>
            </a:r>
            <a:r>
              <a:rPr lang="en-US" sz="2200" dirty="0"/>
              <a:t> </a:t>
            </a:r>
            <a:r>
              <a:rPr lang="en-US" sz="2200" dirty="0" err="1"/>
              <a:t>oddelenie</a:t>
            </a:r>
            <a:r>
              <a:rPr lang="en-US" sz="2200" dirty="0"/>
              <a:t> </a:t>
            </a:r>
            <a:r>
              <a:rPr lang="en-US" sz="2200" dirty="0" err="1"/>
              <a:t>fyzickej</a:t>
            </a:r>
            <a:r>
              <a:rPr lang="en-US" sz="2200" dirty="0"/>
              <a:t> </a:t>
            </a:r>
            <a:r>
              <a:rPr lang="en-US" sz="2200" dirty="0" err="1"/>
              <a:t>siete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200" dirty="0" err="1"/>
              <a:t>Zariadenia</a:t>
            </a:r>
            <a:r>
              <a:rPr lang="en-US" sz="2200" dirty="0"/>
              <a:t> v </a:t>
            </a:r>
            <a:r>
              <a:rPr lang="en-US" sz="2200" dirty="0" err="1"/>
              <a:t>rovnakom</a:t>
            </a:r>
            <a:r>
              <a:rPr lang="en-US" sz="2200" dirty="0"/>
              <a:t> VLAN </a:t>
            </a:r>
            <a:r>
              <a:rPr lang="en-US" sz="2200" dirty="0" err="1"/>
              <a:t>si</a:t>
            </a:r>
            <a:r>
              <a:rPr lang="en-US" sz="2200" dirty="0"/>
              <a:t> "</a:t>
            </a:r>
            <a:r>
              <a:rPr lang="en-US" sz="2200" dirty="0" err="1"/>
              <a:t>myslia</a:t>
            </a:r>
            <a:r>
              <a:rPr lang="en-US" sz="2200" dirty="0"/>
              <a:t>", </a:t>
            </a:r>
            <a:r>
              <a:rPr lang="en-US" sz="2200" dirty="0" err="1"/>
              <a:t>že</a:t>
            </a:r>
            <a:r>
              <a:rPr lang="en-US" sz="2200" dirty="0"/>
              <a:t> </a:t>
            </a:r>
            <a:r>
              <a:rPr lang="en-US" sz="2200" dirty="0" err="1"/>
              <a:t>sú</a:t>
            </a:r>
            <a:r>
              <a:rPr lang="en-US" sz="2200" dirty="0"/>
              <a:t> v </a:t>
            </a:r>
            <a:r>
              <a:rPr lang="en-US" sz="2200" dirty="0" err="1"/>
              <a:t>tých</a:t>
            </a:r>
            <a:r>
              <a:rPr lang="en-US" sz="2200" dirty="0"/>
              <a:t> </a:t>
            </a:r>
            <a:r>
              <a:rPr lang="en-US" sz="2200" dirty="0" err="1"/>
              <a:t>istých</a:t>
            </a:r>
            <a:r>
              <a:rPr lang="en-US" sz="2200" dirty="0"/>
              <a:t> </a:t>
            </a:r>
            <a:r>
              <a:rPr lang="en-US" sz="2200" dirty="0" err="1"/>
              <a:t>drôtoch</a:t>
            </a:r>
            <a:endParaRPr lang="en-US" sz="2200" dirty="0"/>
          </a:p>
          <a:p>
            <a:pPr>
              <a:lnSpc>
                <a:spcPct val="90000"/>
              </a:lnSpc>
            </a:pP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200" dirty="0" err="1"/>
              <a:t>Výhody</a:t>
            </a:r>
            <a:r>
              <a:rPr lang="en-US" sz="2200" dirty="0"/>
              <a:t>:</a:t>
            </a:r>
          </a:p>
          <a:p>
            <a:pPr>
              <a:lnSpc>
                <a:spcPct val="90000"/>
              </a:lnSpc>
            </a:pPr>
            <a:r>
              <a:rPr lang="en-US" sz="2200" dirty="0" err="1"/>
              <a:t>Bezpečnosť</a:t>
            </a:r>
            <a:r>
              <a:rPr lang="en-US" sz="2200" dirty="0"/>
              <a:t> – </a:t>
            </a:r>
            <a:r>
              <a:rPr lang="en-US" sz="2200" dirty="0" err="1"/>
              <a:t>Hostia</a:t>
            </a:r>
            <a:r>
              <a:rPr lang="en-US" sz="2200" dirty="0"/>
              <a:t> </a:t>
            </a:r>
            <a:r>
              <a:rPr lang="en-US" sz="2200" dirty="0" err="1"/>
              <a:t>nemajú</a:t>
            </a:r>
            <a:r>
              <a:rPr lang="en-US" sz="2200" dirty="0"/>
              <a:t> </a:t>
            </a:r>
            <a:r>
              <a:rPr lang="en-US" sz="2200" dirty="0" err="1"/>
              <a:t>prístup</a:t>
            </a:r>
            <a:r>
              <a:rPr lang="en-US" sz="2200" dirty="0"/>
              <a:t> do Management VLAN</a:t>
            </a:r>
          </a:p>
          <a:p>
            <a:pPr>
              <a:lnSpc>
                <a:spcPct val="90000"/>
              </a:lnSpc>
            </a:pPr>
            <a:r>
              <a:rPr lang="en-US" sz="2200" dirty="0" err="1"/>
              <a:t>Výkon</a:t>
            </a:r>
            <a:r>
              <a:rPr lang="en-US" sz="2200" dirty="0"/>
              <a:t> – </a:t>
            </a:r>
            <a:r>
              <a:rPr lang="en-US" sz="2200" dirty="0" err="1"/>
              <a:t>Redukcia</a:t>
            </a:r>
            <a:r>
              <a:rPr lang="en-US" sz="2200" dirty="0"/>
              <a:t> broadcast </a:t>
            </a:r>
            <a:r>
              <a:rPr lang="en-US" sz="2200" dirty="0" err="1"/>
              <a:t>trafiku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200" dirty="0" err="1"/>
              <a:t>Politiky</a:t>
            </a:r>
            <a:r>
              <a:rPr lang="en-US" sz="2200" dirty="0"/>
              <a:t> – </a:t>
            </a:r>
            <a:r>
              <a:rPr lang="en-US" sz="2200" dirty="0" err="1"/>
              <a:t>Zamestnanci</a:t>
            </a:r>
            <a:r>
              <a:rPr lang="en-US" sz="2200" dirty="0"/>
              <a:t> </a:t>
            </a:r>
            <a:r>
              <a:rPr lang="en-US" sz="2200" dirty="0" err="1"/>
              <a:t>vidia</a:t>
            </a:r>
            <a:r>
              <a:rPr lang="en-US" sz="2200" dirty="0"/>
              <a:t> </a:t>
            </a:r>
            <a:r>
              <a:rPr lang="en-US" sz="2200" dirty="0" err="1"/>
              <a:t>servery</a:t>
            </a:r>
            <a:r>
              <a:rPr lang="en-US" sz="2200" dirty="0"/>
              <a:t>, </a:t>
            </a:r>
            <a:r>
              <a:rPr lang="en-US" sz="2200" dirty="0" err="1"/>
              <a:t>nie</a:t>
            </a:r>
            <a:r>
              <a:rPr lang="en-US" sz="2200" dirty="0"/>
              <a:t> Management</a:t>
            </a:r>
          </a:p>
          <a:p>
            <a:pPr>
              <a:lnSpc>
                <a:spcPct val="90000"/>
              </a:lnSpc>
            </a:pPr>
            <a:r>
              <a:rPr lang="en-US" sz="2200" dirty="0" err="1"/>
              <a:t>Flexibilita</a:t>
            </a:r>
            <a:r>
              <a:rPr lang="en-US" sz="2200" dirty="0"/>
              <a:t> – Bez </a:t>
            </a:r>
            <a:r>
              <a:rPr lang="en-US" sz="2200" dirty="0" err="1"/>
              <a:t>fyzického</a:t>
            </a:r>
            <a:r>
              <a:rPr lang="en-US" sz="2200" dirty="0"/>
              <a:t> </a:t>
            </a:r>
            <a:r>
              <a:rPr lang="en-US" sz="2200" dirty="0" err="1"/>
              <a:t>prekablávania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Switch </a:t>
            </a:r>
            <a:r>
              <a:rPr lang="en-US"/>
              <a:t>konfigurácia</a:t>
            </a:r>
            <a:r>
              <a:rPr dirty="0"/>
              <a:t> (VLAN </a:t>
            </a:r>
            <a:r>
              <a:rPr lang="en-US"/>
              <a:t>vytvorenie</a:t>
            </a:r>
            <a:r>
              <a:rPr dirty="0"/>
              <a:t>)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5162" y="828039"/>
            <a:ext cx="5542387" cy="4300447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dirty="0" err="1"/>
              <a:t>Konfigurácia</a:t>
            </a:r>
            <a:r>
              <a:rPr lang="en-US" sz="1600" dirty="0"/>
              <a:t> Switch Cisco 2960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Krok 1: </a:t>
            </a:r>
            <a:r>
              <a:rPr lang="en-US" sz="1600" dirty="0" err="1"/>
              <a:t>Vytvoriť</a:t>
            </a:r>
            <a:r>
              <a:rPr lang="en-US" sz="1600" dirty="0"/>
              <a:t> </a:t>
            </a:r>
            <a:r>
              <a:rPr lang="en-US" sz="1600" dirty="0" err="1"/>
              <a:t>logické</a:t>
            </a:r>
            <a:r>
              <a:rPr lang="en-US" sz="1600" dirty="0"/>
              <a:t> VLAN </a:t>
            </a:r>
            <a:r>
              <a:rPr lang="en-US" sz="1600" dirty="0" err="1"/>
              <a:t>siete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 err="1"/>
              <a:t>Vytvorili</a:t>
            </a:r>
            <a:r>
              <a:rPr lang="en-US" sz="1600" dirty="0"/>
              <a:t> </a:t>
            </a:r>
            <a:r>
              <a:rPr lang="en-US" sz="1600" dirty="0" err="1"/>
              <a:t>sme</a:t>
            </a:r>
            <a:r>
              <a:rPr lang="en-US" sz="1600" dirty="0"/>
              <a:t> 5 </a:t>
            </a:r>
            <a:r>
              <a:rPr lang="en-US" sz="1600" dirty="0" err="1"/>
              <a:t>virtuálnych</a:t>
            </a:r>
            <a:r>
              <a:rPr lang="en-US" sz="1600" dirty="0"/>
              <a:t> </a:t>
            </a:r>
            <a:r>
              <a:rPr lang="en-US" sz="1600" dirty="0" err="1"/>
              <a:t>sietí</a:t>
            </a:r>
            <a:r>
              <a:rPr lang="en-US" sz="1600" dirty="0"/>
              <a:t>: Management (10), </a:t>
            </a:r>
            <a:r>
              <a:rPr lang="en-US" sz="1600" dirty="0" err="1"/>
              <a:t>Zamestnanci</a:t>
            </a:r>
            <a:r>
              <a:rPr lang="en-US" sz="1600" dirty="0"/>
              <a:t> (20), </a:t>
            </a:r>
          </a:p>
          <a:p>
            <a:pPr>
              <a:lnSpc>
                <a:spcPct val="90000"/>
              </a:lnSpc>
            </a:pPr>
            <a:r>
              <a:rPr lang="en-US" sz="1600" dirty="0" err="1"/>
              <a:t>Servery</a:t>
            </a:r>
            <a:r>
              <a:rPr lang="en-US" sz="1600" dirty="0"/>
              <a:t> (30), </a:t>
            </a:r>
            <a:r>
              <a:rPr lang="en-US" sz="1600" dirty="0" err="1"/>
              <a:t>Kamery</a:t>
            </a:r>
            <a:r>
              <a:rPr lang="en-US" sz="1600" dirty="0"/>
              <a:t> (40) a </a:t>
            </a:r>
            <a:r>
              <a:rPr lang="en-US" sz="1600" dirty="0" err="1"/>
              <a:t>Hostia</a:t>
            </a:r>
            <a:r>
              <a:rPr lang="en-US" sz="1600" dirty="0"/>
              <a:t> (50). </a:t>
            </a:r>
            <a:r>
              <a:rPr lang="en-US" sz="1600" dirty="0" err="1"/>
              <a:t>Každá</a:t>
            </a:r>
            <a:r>
              <a:rPr lang="en-US" sz="1600" dirty="0"/>
              <a:t> </a:t>
            </a:r>
            <a:r>
              <a:rPr lang="en-US" sz="1600" dirty="0" err="1"/>
              <a:t>sieť</a:t>
            </a:r>
            <a:r>
              <a:rPr lang="en-US" sz="1600" dirty="0"/>
              <a:t> </a:t>
            </a:r>
            <a:r>
              <a:rPr lang="en-US" sz="1600" dirty="0" err="1"/>
              <a:t>má</a:t>
            </a:r>
            <a:r>
              <a:rPr lang="en-US" sz="1600" dirty="0"/>
              <a:t> </a:t>
            </a:r>
            <a:r>
              <a:rPr lang="en-US" sz="1600" dirty="0" err="1"/>
              <a:t>unikátny</a:t>
            </a:r>
            <a:r>
              <a:rPr lang="en-US" sz="1600" dirty="0"/>
              <a:t> </a:t>
            </a:r>
            <a:r>
              <a:rPr lang="en-US" sz="1600" dirty="0" err="1"/>
              <a:t>identifikátor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Krok 2: </a:t>
            </a:r>
            <a:r>
              <a:rPr lang="en-US" sz="1600" dirty="0" err="1"/>
              <a:t>Priradiť</a:t>
            </a:r>
            <a:r>
              <a:rPr lang="en-US" sz="1600" dirty="0"/>
              <a:t> porty k VLAN-om</a:t>
            </a:r>
          </a:p>
          <a:p>
            <a:pPr>
              <a:lnSpc>
                <a:spcPct val="90000"/>
              </a:lnSpc>
            </a:pPr>
            <a:r>
              <a:rPr lang="en-US" sz="1600" dirty="0" err="1"/>
              <a:t>Každý</a:t>
            </a:r>
            <a:r>
              <a:rPr lang="en-US" sz="1600" dirty="0"/>
              <a:t> </a:t>
            </a:r>
            <a:r>
              <a:rPr lang="en-US" sz="1600" dirty="0" err="1"/>
              <a:t>fyzický</a:t>
            </a:r>
            <a:r>
              <a:rPr lang="en-US" sz="1600" dirty="0"/>
              <a:t> port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switchi</a:t>
            </a:r>
            <a:r>
              <a:rPr lang="en-US" sz="1600" dirty="0"/>
              <a:t> </a:t>
            </a:r>
            <a:r>
              <a:rPr lang="en-US" sz="1600" dirty="0" err="1"/>
              <a:t>bol</a:t>
            </a:r>
            <a:r>
              <a:rPr lang="en-US" sz="1600" dirty="0"/>
              <a:t> </a:t>
            </a:r>
            <a:r>
              <a:rPr lang="en-US" sz="1600" dirty="0" err="1"/>
              <a:t>pridelený</a:t>
            </a:r>
            <a:r>
              <a:rPr lang="en-US" sz="1600" dirty="0"/>
              <a:t> </a:t>
            </a:r>
            <a:r>
              <a:rPr lang="en-US" sz="1600" dirty="0" err="1"/>
              <a:t>jednému</a:t>
            </a:r>
            <a:r>
              <a:rPr lang="en-US" sz="1600" dirty="0"/>
              <a:t> VLAN-u: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Port 1: Management VLAN → admin PC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Porty 5-6: </a:t>
            </a:r>
            <a:r>
              <a:rPr lang="en-US" sz="1600" dirty="0" err="1"/>
              <a:t>Zamestnanci</a:t>
            </a:r>
            <a:r>
              <a:rPr lang="en-US" sz="1600" dirty="0"/>
              <a:t> VLAN → </a:t>
            </a:r>
            <a:r>
              <a:rPr lang="en-US" sz="1600" dirty="0" err="1"/>
              <a:t>firemné</a:t>
            </a:r>
            <a:r>
              <a:rPr lang="en-US" sz="1600" dirty="0"/>
              <a:t> </a:t>
            </a:r>
            <a:r>
              <a:rPr lang="en-US" sz="1600" dirty="0" err="1"/>
              <a:t>počítače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Port 10: </a:t>
            </a:r>
            <a:r>
              <a:rPr lang="en-US" sz="1600" dirty="0" err="1"/>
              <a:t>Servery</a:t>
            </a:r>
            <a:r>
              <a:rPr lang="en-US" sz="1600" dirty="0"/>
              <a:t> VLAN → web server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Port 15: </a:t>
            </a:r>
            <a:r>
              <a:rPr lang="en-US" sz="1600" dirty="0" err="1"/>
              <a:t>Kamery</a:t>
            </a:r>
            <a:r>
              <a:rPr lang="en-US" sz="1600" dirty="0"/>
              <a:t> VLAN → IP </a:t>
            </a:r>
            <a:r>
              <a:rPr lang="en-US" sz="1600" dirty="0" err="1"/>
              <a:t>kamera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Port 20: </a:t>
            </a:r>
            <a:r>
              <a:rPr lang="en-US" sz="1600" dirty="0" err="1"/>
              <a:t>Hostia</a:t>
            </a:r>
            <a:r>
              <a:rPr lang="en-US" sz="1600" dirty="0"/>
              <a:t> VLAN → </a:t>
            </a:r>
            <a:r>
              <a:rPr lang="en-US" sz="1600" dirty="0" err="1"/>
              <a:t>hosť</a:t>
            </a:r>
            <a:r>
              <a:rPr lang="en-US" sz="1600" dirty="0"/>
              <a:t> PC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Krok 3: </a:t>
            </a:r>
            <a:r>
              <a:rPr lang="en-US" sz="1600" dirty="0" err="1"/>
              <a:t>Vytvoriť</a:t>
            </a:r>
            <a:r>
              <a:rPr lang="en-US" sz="1600" dirty="0"/>
              <a:t> trunk port </a:t>
            </a:r>
            <a:r>
              <a:rPr lang="en-US" sz="1600" dirty="0" err="1"/>
              <a:t>na</a:t>
            </a:r>
            <a:r>
              <a:rPr lang="en-US" sz="1600" dirty="0"/>
              <a:t> router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Port 1 </a:t>
            </a:r>
            <a:r>
              <a:rPr lang="en-US" sz="1600" dirty="0" err="1"/>
              <a:t>switcha</a:t>
            </a:r>
            <a:r>
              <a:rPr lang="en-US" sz="1600" dirty="0"/>
              <a:t> (Gigabit) </a:t>
            </a:r>
            <a:r>
              <a:rPr lang="en-US" sz="1600" dirty="0" err="1"/>
              <a:t>bol</a:t>
            </a:r>
            <a:r>
              <a:rPr lang="en-US" sz="1600" dirty="0"/>
              <a:t> </a:t>
            </a:r>
            <a:r>
              <a:rPr lang="en-US" sz="1600" dirty="0" err="1"/>
              <a:t>nastavený</a:t>
            </a:r>
            <a:r>
              <a:rPr lang="en-US" sz="1600" dirty="0"/>
              <a:t> </a:t>
            </a:r>
            <a:r>
              <a:rPr lang="en-US" sz="1600" dirty="0" err="1"/>
              <a:t>ako</a:t>
            </a:r>
            <a:r>
              <a:rPr lang="en-US" sz="1600" dirty="0"/>
              <a:t> trunk – </a:t>
            </a:r>
            <a:r>
              <a:rPr lang="en-US" sz="1600" dirty="0" err="1"/>
              <a:t>komunikuje</a:t>
            </a:r>
            <a:r>
              <a:rPr lang="en-US" sz="1600" dirty="0"/>
              <a:t> so </a:t>
            </a:r>
            <a:r>
              <a:rPr lang="en-US" sz="1600" dirty="0" err="1"/>
              <a:t>všetkými</a:t>
            </a:r>
            <a:r>
              <a:rPr lang="en-US" sz="1600" dirty="0"/>
              <a:t>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VLAN-mi </a:t>
            </a:r>
            <a:r>
              <a:rPr lang="en-US" sz="1600" dirty="0" err="1"/>
              <a:t>cez</a:t>
            </a:r>
            <a:r>
              <a:rPr lang="en-US" sz="1600" dirty="0"/>
              <a:t> </a:t>
            </a:r>
            <a:r>
              <a:rPr lang="en-US" sz="1600" dirty="0" err="1"/>
              <a:t>jeden</a:t>
            </a:r>
            <a:r>
              <a:rPr lang="en-US" sz="1600" dirty="0"/>
              <a:t> </a:t>
            </a:r>
            <a:r>
              <a:rPr lang="en-US" sz="1600" dirty="0" err="1"/>
              <a:t>kábel</a:t>
            </a:r>
            <a:r>
              <a:rPr lang="en-US" sz="1600" dirty="0"/>
              <a:t> </a:t>
            </a:r>
            <a:r>
              <a:rPr lang="en-US" sz="1600" dirty="0" err="1"/>
              <a:t>pomocou</a:t>
            </a:r>
            <a:r>
              <a:rPr lang="en-US" sz="1600" dirty="0"/>
              <a:t> 802.1Q </a:t>
            </a:r>
            <a:r>
              <a:rPr lang="en-US" sz="1600" dirty="0" err="1"/>
              <a:t>tagovania</a:t>
            </a:r>
            <a:r>
              <a:rPr lang="en-US" sz="16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Router </a:t>
            </a:r>
            <a:r>
              <a:rPr lang="en-US" dirty="0" err="1"/>
              <a:t>konfigurácia</a:t>
            </a:r>
            <a:r>
              <a:rPr lang="en-US" dirty="0"/>
              <a:t> (Inter-VLAN </a:t>
            </a:r>
            <a:r>
              <a:rPr lang="en-US" dirty="0" err="1"/>
              <a:t>smerovanie</a:t>
            </a:r>
            <a:r>
              <a:rPr lang="en-US" dirty="0"/>
              <a:t>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5162" y="747190"/>
            <a:ext cx="5542387" cy="4300447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dirty="0" err="1"/>
              <a:t>Konfigurácia</a:t>
            </a:r>
            <a:r>
              <a:rPr lang="en-US" sz="1600" dirty="0"/>
              <a:t> Router ISR 4321 – Router-on-a-Stick: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 err="1"/>
              <a:t>Jedno</a:t>
            </a:r>
            <a:r>
              <a:rPr lang="en-US" sz="1600" dirty="0"/>
              <a:t> </a:t>
            </a:r>
            <a:r>
              <a:rPr lang="en-US" sz="1600" dirty="0" err="1"/>
              <a:t>fyzické</a:t>
            </a:r>
            <a:r>
              <a:rPr lang="en-US" sz="1600" dirty="0"/>
              <a:t> </a:t>
            </a:r>
            <a:r>
              <a:rPr lang="en-US" sz="1600" dirty="0" err="1"/>
              <a:t>rozhranie</a:t>
            </a:r>
            <a:r>
              <a:rPr lang="en-US" sz="1600" dirty="0"/>
              <a:t> (gig0/0) s 5 </a:t>
            </a:r>
            <a:r>
              <a:rPr lang="en-US" sz="1600" dirty="0" err="1"/>
              <a:t>logickými</a:t>
            </a:r>
            <a:r>
              <a:rPr lang="en-US" sz="1600" dirty="0"/>
              <a:t> </a:t>
            </a:r>
            <a:r>
              <a:rPr lang="en-US" sz="1600" dirty="0" err="1"/>
              <a:t>subrozhraniami</a:t>
            </a:r>
            <a:r>
              <a:rPr lang="en-US" sz="1600" dirty="0"/>
              <a:t>: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 err="1"/>
              <a:t>Každá</a:t>
            </a:r>
            <a:r>
              <a:rPr lang="en-US" sz="1600" dirty="0"/>
              <a:t> VLAN </a:t>
            </a:r>
            <a:r>
              <a:rPr lang="en-US" sz="1600" dirty="0" err="1"/>
              <a:t>má</a:t>
            </a:r>
            <a:r>
              <a:rPr lang="en-US" sz="1600" dirty="0"/>
              <a:t> </a:t>
            </a:r>
            <a:r>
              <a:rPr lang="en-US" sz="1600" dirty="0" err="1"/>
              <a:t>svoju</a:t>
            </a:r>
            <a:r>
              <a:rPr lang="en-US" sz="1600" dirty="0"/>
              <a:t> </a:t>
            </a:r>
            <a:r>
              <a:rPr lang="en-US" sz="1600" dirty="0" err="1"/>
              <a:t>vlastnú</a:t>
            </a:r>
            <a:r>
              <a:rPr lang="en-US" sz="1600" dirty="0"/>
              <a:t> </a:t>
            </a:r>
            <a:r>
              <a:rPr lang="en-US" sz="1600" dirty="0" err="1"/>
              <a:t>virtuálnu</a:t>
            </a:r>
            <a:r>
              <a:rPr lang="en-US" sz="1600" dirty="0"/>
              <a:t> </a:t>
            </a:r>
            <a:r>
              <a:rPr lang="en-US" sz="1600" dirty="0" err="1"/>
              <a:t>rozhranie</a:t>
            </a:r>
            <a:r>
              <a:rPr lang="en-US" sz="1600" dirty="0"/>
              <a:t> s </a:t>
            </a:r>
            <a:r>
              <a:rPr lang="en-US" sz="1600" dirty="0" err="1"/>
              <a:t>brányou</a:t>
            </a:r>
            <a:r>
              <a:rPr lang="en-US" sz="1600" dirty="0"/>
              <a:t>: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VLAN 10 Management – </a:t>
            </a:r>
            <a:r>
              <a:rPr lang="en-US" sz="1600" dirty="0" err="1"/>
              <a:t>brána</a:t>
            </a:r>
            <a:r>
              <a:rPr lang="en-US" sz="1600" dirty="0"/>
              <a:t> 192.168.10.1 (admin </a:t>
            </a:r>
            <a:r>
              <a:rPr lang="en-US" sz="1600" dirty="0" err="1"/>
              <a:t>prístup</a:t>
            </a:r>
            <a:r>
              <a:rPr lang="en-US" sz="1600" dirty="0"/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VLAN 20 </a:t>
            </a:r>
            <a:r>
              <a:rPr lang="en-US" sz="1600" dirty="0" err="1"/>
              <a:t>Zamestnanci</a:t>
            </a:r>
            <a:r>
              <a:rPr lang="en-US" sz="1600" dirty="0"/>
              <a:t> – </a:t>
            </a:r>
            <a:r>
              <a:rPr lang="en-US" sz="1600" dirty="0" err="1"/>
              <a:t>brána</a:t>
            </a:r>
            <a:r>
              <a:rPr lang="en-US" sz="1600" dirty="0"/>
              <a:t> 192.168.20.1 (</a:t>
            </a:r>
            <a:r>
              <a:rPr lang="en-US" sz="1600" dirty="0" err="1"/>
              <a:t>pracovníci</a:t>
            </a:r>
            <a:r>
              <a:rPr lang="en-US" sz="1600" dirty="0"/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VLAN 30 </a:t>
            </a:r>
            <a:r>
              <a:rPr lang="en-US" sz="1600" dirty="0" err="1"/>
              <a:t>Servery</a:t>
            </a:r>
            <a:r>
              <a:rPr lang="en-US" sz="1600" dirty="0"/>
              <a:t> – </a:t>
            </a:r>
            <a:r>
              <a:rPr lang="en-US" sz="1600" dirty="0" err="1"/>
              <a:t>brána</a:t>
            </a:r>
            <a:r>
              <a:rPr lang="en-US" sz="1600" dirty="0"/>
              <a:t> 192.168.30.1 (</a:t>
            </a:r>
            <a:r>
              <a:rPr lang="en-US" sz="1600" dirty="0" err="1"/>
              <a:t>webové</a:t>
            </a:r>
            <a:r>
              <a:rPr lang="en-US" sz="1600" dirty="0"/>
              <a:t> </a:t>
            </a:r>
            <a:r>
              <a:rPr lang="en-US" sz="1600" dirty="0" err="1"/>
              <a:t>služby</a:t>
            </a:r>
            <a:r>
              <a:rPr lang="en-US" sz="1600" dirty="0"/>
              <a:t>)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VLAN 40 </a:t>
            </a:r>
            <a:r>
              <a:rPr lang="en-US" sz="1600" dirty="0" err="1"/>
              <a:t>Kamery</a:t>
            </a:r>
            <a:r>
              <a:rPr lang="en-US" sz="1600" dirty="0"/>
              <a:t> – </a:t>
            </a:r>
            <a:r>
              <a:rPr lang="en-US" sz="1600" dirty="0" err="1"/>
              <a:t>brána</a:t>
            </a:r>
            <a:r>
              <a:rPr lang="en-US" sz="1600" dirty="0"/>
              <a:t> 192.168.40.1 (monitoring)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VLAN 50 </a:t>
            </a:r>
            <a:r>
              <a:rPr lang="en-US" sz="1600" dirty="0" err="1"/>
              <a:t>Hostia</a:t>
            </a:r>
            <a:r>
              <a:rPr lang="en-US" sz="1600" dirty="0"/>
              <a:t> – </a:t>
            </a:r>
            <a:r>
              <a:rPr lang="en-US" sz="1600" dirty="0" err="1"/>
              <a:t>brána</a:t>
            </a:r>
            <a:r>
              <a:rPr lang="en-US" sz="1600" dirty="0"/>
              <a:t> 192.168.50.1 (</a:t>
            </a:r>
            <a:r>
              <a:rPr lang="en-US" sz="1600" dirty="0" err="1"/>
              <a:t>bezpečný</a:t>
            </a:r>
            <a:r>
              <a:rPr lang="en-US" sz="1600" dirty="0"/>
              <a:t> </a:t>
            </a:r>
            <a:r>
              <a:rPr lang="en-US" sz="1600" dirty="0" err="1"/>
              <a:t>hosť</a:t>
            </a:r>
            <a:r>
              <a:rPr lang="en-US" sz="1600" dirty="0"/>
              <a:t> </a:t>
            </a:r>
            <a:r>
              <a:rPr lang="en-US" sz="1600" dirty="0" err="1"/>
              <a:t>prístup</a:t>
            </a:r>
            <a:r>
              <a:rPr lang="en-US" sz="1600" dirty="0"/>
              <a:t>)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 err="1"/>
              <a:t>Smerovanie</a:t>
            </a:r>
            <a:r>
              <a:rPr lang="en-US" sz="1600" dirty="0"/>
              <a:t> </a:t>
            </a:r>
            <a:r>
              <a:rPr lang="en-US" sz="1600" dirty="0" err="1"/>
              <a:t>medzi</a:t>
            </a:r>
            <a:r>
              <a:rPr lang="en-US" sz="1600" dirty="0"/>
              <a:t> VLAN-mi: Router </a:t>
            </a:r>
            <a:r>
              <a:rPr lang="en-US" sz="1600" dirty="0" err="1"/>
              <a:t>automaticky</a:t>
            </a:r>
            <a:r>
              <a:rPr lang="en-US" sz="1600" dirty="0"/>
              <a:t> </a:t>
            </a:r>
            <a:r>
              <a:rPr lang="en-US" sz="1600" dirty="0" err="1"/>
              <a:t>smeruje</a:t>
            </a:r>
            <a:r>
              <a:rPr lang="en-US" sz="1600" dirty="0"/>
              <a:t> </a:t>
            </a:r>
            <a:r>
              <a:rPr lang="en-US" sz="1600" dirty="0" err="1"/>
              <a:t>trafik</a:t>
            </a:r>
            <a:r>
              <a:rPr lang="en-US" sz="1600" dirty="0"/>
              <a:t> </a:t>
            </a:r>
            <a:r>
              <a:rPr lang="en-US" sz="1600" dirty="0" err="1"/>
              <a:t>medzi</a:t>
            </a:r>
            <a:r>
              <a:rPr lang="en-US" sz="1600" dirty="0"/>
              <a:t> </a:t>
            </a:r>
            <a:r>
              <a:rPr lang="en-US" sz="1600" dirty="0" err="1"/>
              <a:t>sieťami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základe</a:t>
            </a:r>
            <a:r>
              <a:rPr lang="en-US" sz="1600" dirty="0"/>
              <a:t> IP </a:t>
            </a:r>
            <a:r>
              <a:rPr lang="en-US" sz="1600" dirty="0" err="1"/>
              <a:t>adresy</a:t>
            </a:r>
            <a:r>
              <a:rPr lang="en-US" sz="1600" dirty="0"/>
              <a:t> (</a:t>
            </a:r>
            <a:r>
              <a:rPr lang="en-US" sz="1600" dirty="0" err="1"/>
              <a:t>napr</a:t>
            </a:r>
            <a:r>
              <a:rPr lang="en-US" sz="1600" dirty="0"/>
              <a:t>. </a:t>
            </a:r>
            <a:r>
              <a:rPr lang="en-US" sz="1600" dirty="0" err="1"/>
              <a:t>počítač</a:t>
            </a:r>
            <a:r>
              <a:rPr lang="en-US" sz="1600" dirty="0"/>
              <a:t> z VLAN 20 </a:t>
            </a:r>
            <a:r>
              <a:rPr lang="en-US" sz="1600" dirty="0" err="1"/>
              <a:t>chce</a:t>
            </a:r>
            <a:r>
              <a:rPr lang="en-US" sz="1600" dirty="0"/>
              <a:t> </a:t>
            </a:r>
            <a:r>
              <a:rPr lang="en-US" sz="1600" dirty="0" err="1"/>
              <a:t>komunikovať</a:t>
            </a:r>
            <a:r>
              <a:rPr lang="en-US" sz="1600" dirty="0"/>
              <a:t> s VLAN 30 –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router </a:t>
            </a:r>
            <a:r>
              <a:rPr lang="en-US" sz="1600" dirty="0" err="1"/>
              <a:t>spracuje</a:t>
            </a:r>
            <a:r>
              <a:rPr lang="en-US" sz="1600" dirty="0"/>
              <a:t> a </a:t>
            </a:r>
            <a:r>
              <a:rPr lang="en-US" sz="1600" dirty="0" err="1"/>
              <a:t>prepošle</a:t>
            </a:r>
            <a:r>
              <a:rPr lang="en-US" sz="1600" dirty="0"/>
              <a:t>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/>
              <a:t>DHCP konfigurácia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9680" y="820101"/>
            <a:ext cx="5913352" cy="5450070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dirty="0" err="1"/>
              <a:t>Konfigurácia</a:t>
            </a:r>
            <a:r>
              <a:rPr lang="en-US" sz="1600" dirty="0"/>
              <a:t> DHCP </a:t>
            </a:r>
            <a:r>
              <a:rPr lang="en-US" sz="1600" dirty="0" err="1"/>
              <a:t>servera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routeri</a:t>
            </a:r>
            <a:r>
              <a:rPr lang="en-US" sz="1600" dirty="0"/>
              <a:t> – </a:t>
            </a:r>
            <a:r>
              <a:rPr lang="en-US" sz="1600" dirty="0" err="1"/>
              <a:t>Automatické</a:t>
            </a:r>
            <a:r>
              <a:rPr lang="en-US" sz="1600" dirty="0"/>
              <a:t> </a:t>
            </a:r>
            <a:r>
              <a:rPr lang="en-US" sz="1600" dirty="0" err="1"/>
              <a:t>prideľovanie</a:t>
            </a:r>
            <a:r>
              <a:rPr lang="en-US" sz="1600" dirty="0"/>
              <a:t> IP: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 err="1"/>
              <a:t>Piatich</a:t>
            </a:r>
            <a:r>
              <a:rPr lang="en-US" sz="1600" dirty="0"/>
              <a:t> DHCP </a:t>
            </a:r>
            <a:r>
              <a:rPr lang="en-US" sz="1600" dirty="0" err="1"/>
              <a:t>poolov</a:t>
            </a:r>
            <a:r>
              <a:rPr lang="en-US" sz="1600" dirty="0"/>
              <a:t> – </a:t>
            </a:r>
            <a:r>
              <a:rPr lang="en-US" sz="1600" dirty="0" err="1"/>
              <a:t>jeden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VLAN: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r>
              <a:rPr lang="en-US" sz="1600" dirty="0"/>
              <a:t>1. Management VLAN 10 -Automatic IP pre: </a:t>
            </a:r>
            <a:r>
              <a:rPr lang="en-US" sz="1600" dirty="0" err="1"/>
              <a:t>Administrátori</a:t>
            </a:r>
            <a:r>
              <a:rPr lang="en-US" sz="1600" dirty="0"/>
              <a:t> PC – </a:t>
            </a:r>
            <a:r>
              <a:rPr lang="en-US" sz="1600" dirty="0" err="1"/>
              <a:t>brána</a:t>
            </a:r>
            <a:r>
              <a:rPr lang="en-US" sz="1600" dirty="0"/>
              <a:t> 192.168.10.1</a:t>
            </a:r>
          </a:p>
          <a:p>
            <a:r>
              <a:rPr lang="en-US" sz="1600" dirty="0"/>
              <a:t>2. </a:t>
            </a:r>
            <a:r>
              <a:rPr lang="en-US" sz="1600" dirty="0" err="1"/>
              <a:t>Zamestnanci</a:t>
            </a:r>
            <a:r>
              <a:rPr lang="en-US" sz="1600" dirty="0"/>
              <a:t> VLAN 20 - Automatic IP pre: </a:t>
            </a:r>
            <a:r>
              <a:rPr lang="en-US" sz="1600" dirty="0" err="1"/>
              <a:t>Firemné</a:t>
            </a:r>
            <a:r>
              <a:rPr lang="en-US" sz="1600" dirty="0"/>
              <a:t> PC a </a:t>
            </a:r>
            <a:r>
              <a:rPr lang="en-US" sz="1600" dirty="0" err="1"/>
              <a:t>notebooky</a:t>
            </a:r>
            <a:r>
              <a:rPr lang="en-US" sz="1600" dirty="0"/>
              <a:t> – </a:t>
            </a:r>
            <a:r>
              <a:rPr lang="en-US" sz="1600" dirty="0" err="1"/>
              <a:t>brána</a:t>
            </a:r>
            <a:r>
              <a:rPr lang="en-US" sz="1600" dirty="0"/>
              <a:t> 192.168.20.1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Servery</a:t>
            </a:r>
            <a:r>
              <a:rPr lang="en-US" sz="1600" dirty="0"/>
              <a:t> VLAN 30 - Automatic IP pre: </a:t>
            </a:r>
            <a:r>
              <a:rPr lang="en-US" sz="1600" dirty="0" err="1"/>
              <a:t>Webový</a:t>
            </a:r>
            <a:r>
              <a:rPr lang="en-US" sz="1600" dirty="0"/>
              <a:t> server – </a:t>
            </a:r>
            <a:r>
              <a:rPr lang="en-US" sz="1600" dirty="0" err="1"/>
              <a:t>brána</a:t>
            </a:r>
            <a:r>
              <a:rPr lang="en-US" sz="1600" dirty="0"/>
              <a:t> 192.168.30.1</a:t>
            </a:r>
          </a:p>
          <a:p>
            <a:r>
              <a:rPr lang="en-US" sz="1600" dirty="0"/>
              <a:t>4. </a:t>
            </a:r>
            <a:r>
              <a:rPr lang="en-US" sz="1600" dirty="0" err="1"/>
              <a:t>Kamery</a:t>
            </a:r>
            <a:r>
              <a:rPr lang="en-US" sz="1600" dirty="0"/>
              <a:t> VLAN 40 - Automatic IP pre: IP </a:t>
            </a:r>
            <a:r>
              <a:rPr lang="en-US" sz="1600" dirty="0" err="1"/>
              <a:t>kamera</a:t>
            </a:r>
            <a:r>
              <a:rPr lang="en-US" sz="1600" dirty="0"/>
              <a:t> a IoT </a:t>
            </a:r>
            <a:r>
              <a:rPr lang="en-US" sz="1600" dirty="0" err="1"/>
              <a:t>zariadenia</a:t>
            </a:r>
            <a:r>
              <a:rPr lang="en-US" sz="1600" dirty="0"/>
              <a:t> – </a:t>
            </a:r>
            <a:r>
              <a:rPr lang="en-US" sz="1600" dirty="0" err="1"/>
              <a:t>brána</a:t>
            </a:r>
            <a:r>
              <a:rPr lang="en-US" sz="1600" dirty="0"/>
              <a:t> 192.168.40.1</a:t>
            </a:r>
          </a:p>
          <a:p>
            <a:r>
              <a:rPr lang="en-US" sz="1600" dirty="0"/>
              <a:t>5. </a:t>
            </a:r>
            <a:r>
              <a:rPr lang="en-US" sz="1600" dirty="0" err="1"/>
              <a:t>Hostia</a:t>
            </a:r>
            <a:r>
              <a:rPr lang="en-US" sz="1600" dirty="0"/>
              <a:t> VLAN 50 - Automatic IP pre: </a:t>
            </a:r>
            <a:r>
              <a:rPr lang="en-US" sz="1600" dirty="0" err="1"/>
              <a:t>Hosť</a:t>
            </a:r>
            <a:r>
              <a:rPr lang="en-US" sz="1600" dirty="0"/>
              <a:t> </a:t>
            </a:r>
            <a:r>
              <a:rPr lang="en-US" sz="1600" dirty="0" err="1"/>
              <a:t>zariadenia</a:t>
            </a:r>
            <a:r>
              <a:rPr lang="en-US" sz="1600" dirty="0"/>
              <a:t> – </a:t>
            </a:r>
            <a:r>
              <a:rPr lang="en-US" sz="1600" dirty="0" err="1"/>
              <a:t>brána</a:t>
            </a:r>
            <a:r>
              <a:rPr lang="en-US" sz="1600" dirty="0"/>
              <a:t> 192.168.50.1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 err="1"/>
              <a:t>Výhoda</a:t>
            </a:r>
            <a:r>
              <a:rPr lang="en-US" sz="1600" dirty="0"/>
              <a:t>: </a:t>
            </a:r>
            <a:r>
              <a:rPr lang="en-US" sz="1600" dirty="0" err="1"/>
              <a:t>Zariadenia</a:t>
            </a:r>
            <a:r>
              <a:rPr lang="en-US" sz="1600" dirty="0"/>
              <a:t> </a:t>
            </a:r>
            <a:r>
              <a:rPr lang="en-US" sz="1600" dirty="0" err="1"/>
              <a:t>sa</a:t>
            </a:r>
            <a:r>
              <a:rPr lang="en-US" sz="1600" dirty="0"/>
              <a:t> </a:t>
            </a:r>
            <a:r>
              <a:rPr lang="en-US" sz="1600" dirty="0" err="1"/>
              <a:t>pripoja</a:t>
            </a:r>
            <a:r>
              <a:rPr lang="en-US" sz="1600" dirty="0"/>
              <a:t> a </a:t>
            </a:r>
            <a:r>
              <a:rPr lang="en-US" sz="1600" dirty="0" err="1"/>
              <a:t>automaticky</a:t>
            </a:r>
            <a:r>
              <a:rPr lang="en-US" sz="1600" dirty="0"/>
              <a:t> </a:t>
            </a:r>
            <a:r>
              <a:rPr lang="en-US" sz="1600" dirty="0" err="1"/>
              <a:t>dostanú</a:t>
            </a:r>
            <a:r>
              <a:rPr lang="en-US" sz="1600" dirty="0"/>
              <a:t> IP </a:t>
            </a:r>
            <a:r>
              <a:rPr lang="en-US" sz="1600" dirty="0" err="1"/>
              <a:t>adresu</a:t>
            </a:r>
            <a:r>
              <a:rPr lang="en-US" sz="1600" dirty="0"/>
              <a:t> bez </a:t>
            </a:r>
            <a:r>
              <a:rPr lang="en-US" sz="1600" dirty="0" err="1"/>
              <a:t>ručnej</a:t>
            </a:r>
            <a:r>
              <a:rPr lang="en-US" sz="1600" dirty="0"/>
              <a:t> </a:t>
            </a:r>
            <a:r>
              <a:rPr lang="en-US" sz="1600" dirty="0" err="1"/>
              <a:t>konfigurácie</a:t>
            </a:r>
            <a:r>
              <a:rPr lang="en-US" sz="16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/>
              <a:t>Bezpečnosť – Access Control Lists (ACLs)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Zamestnanci → Servery – POVOLENÉ</a:t>
            </a:r>
          </a:p>
          <a:p>
            <a:r>
              <a:rPr lang="en-US" sz="2400"/>
              <a:t>Zamestnanci → Management – ZAKÁZANÉ</a:t>
            </a:r>
          </a:p>
          <a:p>
            <a:r>
              <a:rPr lang="en-US" sz="2400"/>
              <a:t>Zamestnanci → Kamery – ZAKÁZANÉ</a:t>
            </a:r>
          </a:p>
          <a:p>
            <a:r>
              <a:rPr lang="en-US" sz="2400"/>
              <a:t>Hostia → Všetko – ZAKÁZANÉ</a:t>
            </a:r>
          </a:p>
          <a:p>
            <a:r>
              <a:rPr lang="en-US" sz="2400"/>
              <a:t>Management → Všetko – POVOLENÉ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 err="1"/>
              <a:t>Prečo</a:t>
            </a:r>
            <a:r>
              <a:rPr lang="en-US" sz="4800" dirty="0"/>
              <a:t> </a:t>
            </a:r>
            <a:r>
              <a:rPr lang="en-US" sz="4800" dirty="0" err="1"/>
              <a:t>sme</a:t>
            </a:r>
            <a:r>
              <a:rPr lang="en-US" sz="4800" dirty="0"/>
              <a:t> </a:t>
            </a:r>
            <a:r>
              <a:rPr lang="en-US" sz="4800" dirty="0" err="1"/>
              <a:t>vybrali</a:t>
            </a:r>
            <a:r>
              <a:rPr lang="en-US" sz="4800" dirty="0"/>
              <a:t> </a:t>
            </a:r>
            <a:r>
              <a:rPr lang="en-US" sz="4800" dirty="0" err="1"/>
              <a:t>túto</a:t>
            </a:r>
            <a:r>
              <a:rPr lang="en-US" sz="4800" dirty="0"/>
              <a:t> </a:t>
            </a:r>
            <a:r>
              <a:rPr lang="en-US" sz="4800" dirty="0" err="1"/>
              <a:t>architektúru</a:t>
            </a:r>
            <a:r>
              <a:rPr lang="en-US" sz="4800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1 Router + 1 Switch = </a:t>
            </a:r>
            <a:r>
              <a:rPr lang="en-US" sz="2400" dirty="0" err="1"/>
              <a:t>lacné</a:t>
            </a:r>
            <a:r>
              <a:rPr lang="en-US" sz="2400" dirty="0"/>
              <a:t> a </a:t>
            </a:r>
            <a:r>
              <a:rPr lang="en-US" sz="2400" dirty="0" err="1"/>
              <a:t>jednoduché</a:t>
            </a:r>
            <a:endParaRPr lang="en-US" sz="2400" dirty="0"/>
          </a:p>
          <a:p>
            <a:r>
              <a:rPr lang="en-US" sz="2400" dirty="0"/>
              <a:t>Trunk port – </a:t>
            </a:r>
            <a:r>
              <a:rPr lang="en-US" sz="2400" dirty="0" err="1"/>
              <a:t>viac</a:t>
            </a:r>
            <a:r>
              <a:rPr lang="en-US" sz="2400" dirty="0"/>
              <a:t> </a:t>
            </a:r>
            <a:r>
              <a:rPr lang="en-US" sz="2400" dirty="0" err="1"/>
              <a:t>sietí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jednom</a:t>
            </a:r>
            <a:r>
              <a:rPr lang="en-US" sz="2400" dirty="0"/>
              <a:t> </a:t>
            </a:r>
            <a:r>
              <a:rPr lang="en-US" sz="2400" dirty="0" err="1"/>
              <a:t>kábli</a:t>
            </a:r>
            <a:endParaRPr lang="en-US" sz="2400" dirty="0"/>
          </a:p>
          <a:p>
            <a:r>
              <a:rPr lang="en-US" sz="2400" dirty="0"/>
              <a:t>2 Access Pointy – </a:t>
            </a:r>
            <a:r>
              <a:rPr lang="en-US" sz="2400" dirty="0" err="1"/>
              <a:t>Zamestnanci</a:t>
            </a:r>
            <a:r>
              <a:rPr lang="en-US" sz="2400" dirty="0"/>
              <a:t> / </a:t>
            </a:r>
            <a:r>
              <a:rPr lang="en-US" sz="2400" dirty="0" err="1"/>
              <a:t>Hostia</a:t>
            </a:r>
            <a:endParaRPr lang="en-US" sz="2400" dirty="0"/>
          </a:p>
          <a:p>
            <a:r>
              <a:rPr lang="en-US" sz="2400" dirty="0"/>
              <a:t>ACL – </a:t>
            </a:r>
            <a:r>
              <a:rPr lang="en-US" sz="2400" dirty="0" err="1"/>
              <a:t>podnikový</a:t>
            </a:r>
            <a:r>
              <a:rPr lang="en-US" sz="2400" dirty="0"/>
              <a:t> </a:t>
            </a:r>
            <a:r>
              <a:rPr lang="en-US" sz="2400" dirty="0" err="1"/>
              <a:t>štandard</a:t>
            </a:r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dirty="0" err="1"/>
              <a:t>Implementované</a:t>
            </a:r>
            <a:r>
              <a:rPr lang="en-US" sz="5000" dirty="0"/>
              <a:t> </a:t>
            </a:r>
            <a:r>
              <a:rPr lang="en-US" sz="5000" dirty="0" err="1"/>
              <a:t>bezpečnostné</a:t>
            </a:r>
            <a:r>
              <a:rPr lang="en-US" sz="5000" dirty="0"/>
              <a:t> </a:t>
            </a:r>
            <a:r>
              <a:rPr lang="en-US" sz="5000" dirty="0" err="1"/>
              <a:t>prvky</a:t>
            </a:r>
            <a:endParaRPr lang="en-US" sz="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 fontScale="85000" lnSpcReduction="10000"/>
          </a:bodyPr>
          <a:lstStyle/>
          <a:p>
            <a:r>
              <a:rPr lang="en-US" sz="2400" dirty="0"/>
              <a:t>VLAN </a:t>
            </a:r>
            <a:r>
              <a:rPr lang="en-US" sz="2400" dirty="0" err="1"/>
              <a:t>izolácia</a:t>
            </a:r>
            <a:r>
              <a:rPr lang="en-US" sz="2400" dirty="0"/>
              <a:t> – </a:t>
            </a:r>
            <a:r>
              <a:rPr lang="en-US" sz="2400" dirty="0" err="1"/>
              <a:t>Logické</a:t>
            </a:r>
            <a:r>
              <a:rPr lang="en-US" sz="2400" dirty="0"/>
              <a:t> </a:t>
            </a:r>
            <a:r>
              <a:rPr lang="en-US" sz="2400" dirty="0" err="1"/>
              <a:t>oddelenie</a:t>
            </a:r>
            <a:r>
              <a:rPr lang="en-US" sz="2400" dirty="0"/>
              <a:t> 5 </a:t>
            </a:r>
            <a:r>
              <a:rPr lang="en-US" sz="2400" dirty="0" err="1"/>
              <a:t>sietí</a:t>
            </a:r>
            <a:endParaRPr lang="en-US" sz="2400" dirty="0"/>
          </a:p>
          <a:p>
            <a:r>
              <a:rPr lang="en-US" sz="2400" dirty="0"/>
              <a:t>ACL </a:t>
            </a:r>
            <a:r>
              <a:rPr lang="en-US" sz="2400" dirty="0" err="1"/>
              <a:t>bezpečnosť</a:t>
            </a:r>
            <a:r>
              <a:rPr lang="en-US" sz="2400" dirty="0"/>
              <a:t> – </a:t>
            </a:r>
            <a:r>
              <a:rPr lang="en-US" sz="2400" dirty="0" err="1"/>
              <a:t>Blokácia</a:t>
            </a:r>
            <a:r>
              <a:rPr lang="en-US" sz="2400" dirty="0"/>
              <a:t> </a:t>
            </a:r>
            <a:r>
              <a:rPr lang="en-US" sz="2400" dirty="0" err="1"/>
              <a:t>nežiaducího</a:t>
            </a:r>
            <a:r>
              <a:rPr lang="en-US" sz="2400" dirty="0"/>
              <a:t> </a:t>
            </a:r>
            <a:r>
              <a:rPr lang="en-US" sz="2400" dirty="0" err="1"/>
              <a:t>trafiku</a:t>
            </a:r>
            <a:r>
              <a:rPr lang="en-US" sz="2400" dirty="0"/>
              <a:t> </a:t>
            </a:r>
            <a:r>
              <a:rPr lang="en-US" sz="2400" dirty="0" err="1"/>
              <a:t>medzi</a:t>
            </a:r>
            <a:r>
              <a:rPr lang="en-US" sz="2400" dirty="0"/>
              <a:t> VLAN-mi</a:t>
            </a:r>
          </a:p>
          <a:p>
            <a:r>
              <a:rPr lang="en-US" sz="2400" dirty="0" err="1"/>
              <a:t>Oddelená</a:t>
            </a:r>
            <a:r>
              <a:rPr lang="en-US" sz="2400" dirty="0"/>
              <a:t> Guest VLAN 50 – Bez </a:t>
            </a:r>
            <a:r>
              <a:rPr lang="en-US" sz="2400" dirty="0" err="1"/>
              <a:t>prístupu</a:t>
            </a:r>
            <a:r>
              <a:rPr lang="en-US" sz="2400" dirty="0"/>
              <a:t> k </a:t>
            </a:r>
            <a:r>
              <a:rPr lang="en-US" sz="2400" dirty="0" err="1"/>
              <a:t>firemným</a:t>
            </a:r>
            <a:r>
              <a:rPr lang="en-US" sz="2400" dirty="0"/>
              <a:t> </a:t>
            </a:r>
            <a:r>
              <a:rPr lang="en-US" sz="2400" dirty="0" err="1"/>
              <a:t>zdrojom</a:t>
            </a:r>
            <a:endParaRPr lang="en-US" sz="2400" dirty="0"/>
          </a:p>
          <a:p>
            <a:r>
              <a:rPr lang="en-US" sz="2400" dirty="0" err="1"/>
              <a:t>Princíp</a:t>
            </a:r>
            <a:r>
              <a:rPr lang="en-US" sz="2400" dirty="0"/>
              <a:t> </a:t>
            </a:r>
            <a:r>
              <a:rPr lang="en-US" sz="2400" dirty="0" err="1"/>
              <a:t>najmenšieho</a:t>
            </a:r>
            <a:r>
              <a:rPr lang="en-US" sz="2400" dirty="0"/>
              <a:t> </a:t>
            </a:r>
            <a:r>
              <a:rPr lang="en-US" sz="2400" dirty="0" err="1"/>
              <a:t>privilégia</a:t>
            </a:r>
            <a:r>
              <a:rPr lang="en-US" sz="2400" dirty="0"/>
              <a:t> – </a:t>
            </a:r>
            <a:r>
              <a:rPr lang="en-US" sz="2400" dirty="0" err="1"/>
              <a:t>Každá</a:t>
            </a:r>
            <a:r>
              <a:rPr lang="en-US" sz="2400" dirty="0"/>
              <a:t> VLAN </a:t>
            </a:r>
            <a:r>
              <a:rPr lang="en-US" sz="2400" dirty="0" err="1"/>
              <a:t>má</a:t>
            </a:r>
            <a:r>
              <a:rPr lang="en-US" sz="2400" dirty="0"/>
              <a:t> </a:t>
            </a:r>
            <a:r>
              <a:rPr lang="en-US" sz="2400" dirty="0" err="1"/>
              <a:t>len</a:t>
            </a:r>
            <a:r>
              <a:rPr lang="en-US" sz="2400" dirty="0"/>
              <a:t> </a:t>
            </a:r>
            <a:r>
              <a:rPr lang="en-US" sz="2400" dirty="0" err="1"/>
              <a:t>potrebný</a:t>
            </a:r>
            <a:r>
              <a:rPr lang="en-US" sz="2400" dirty="0"/>
              <a:t> </a:t>
            </a:r>
            <a:r>
              <a:rPr lang="en-US" sz="2400" dirty="0" err="1"/>
              <a:t>prístup</a:t>
            </a:r>
            <a:endParaRPr lang="en-US" sz="2400" dirty="0"/>
          </a:p>
          <a:p>
            <a:r>
              <a:rPr lang="en-US" sz="2400" dirty="0"/>
              <a:t>Management VLAN (10) – </a:t>
            </a:r>
            <a:r>
              <a:rPr lang="en-US" sz="2400" dirty="0" err="1"/>
              <a:t>Administrátori</a:t>
            </a:r>
            <a:r>
              <a:rPr lang="en-US" sz="2400" dirty="0"/>
              <a:t> </a:t>
            </a:r>
            <a:r>
              <a:rPr lang="en-US" sz="2400" dirty="0" err="1"/>
              <a:t>majú</a:t>
            </a:r>
            <a:r>
              <a:rPr lang="en-US" sz="2400" dirty="0"/>
              <a:t> </a:t>
            </a:r>
            <a:r>
              <a:rPr lang="en-US" sz="2400" dirty="0" err="1"/>
              <a:t>plný</a:t>
            </a:r>
            <a:r>
              <a:rPr lang="en-US" sz="2400" dirty="0"/>
              <a:t> </a:t>
            </a:r>
            <a:r>
              <a:rPr lang="en-US" sz="2400" dirty="0" err="1"/>
              <a:t>prístup</a:t>
            </a:r>
            <a:r>
              <a:rPr lang="en-US" sz="2400" dirty="0"/>
              <a:t>, </a:t>
            </a:r>
            <a:r>
              <a:rPr lang="en-US" sz="2400" dirty="0" err="1"/>
              <a:t>ostatní</a:t>
            </a:r>
            <a:r>
              <a:rPr lang="en-US" sz="2400" dirty="0"/>
              <a:t> </a:t>
            </a:r>
            <a:r>
              <a:rPr lang="en-US" sz="2400" dirty="0" err="1"/>
              <a:t>nie</a:t>
            </a:r>
            <a:endParaRPr lang="en-US" sz="2400" dirty="0"/>
          </a:p>
          <a:p>
            <a:r>
              <a:rPr lang="en-US" sz="2400" dirty="0"/>
              <a:t>Port Security – </a:t>
            </a:r>
            <a:r>
              <a:rPr lang="en-US" sz="2400" dirty="0" err="1"/>
              <a:t>Limitácia</a:t>
            </a:r>
            <a:r>
              <a:rPr lang="en-US" sz="2400" dirty="0"/>
              <a:t> </a:t>
            </a:r>
            <a:r>
              <a:rPr lang="en-US" sz="2400" dirty="0" err="1"/>
              <a:t>zariadení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VLAN 20 (max 2 </a:t>
            </a:r>
            <a:r>
              <a:rPr lang="en-US" sz="2400" dirty="0" err="1"/>
              <a:t>na</a:t>
            </a:r>
            <a:r>
              <a:rPr lang="en-US" sz="2400" dirty="0"/>
              <a:t> port)</a:t>
            </a:r>
          </a:p>
          <a:p>
            <a:r>
              <a:rPr lang="en-US" sz="2400" dirty="0"/>
              <a:t>DHCP </a:t>
            </a:r>
            <a:r>
              <a:rPr lang="en-US" sz="2400" dirty="0" err="1"/>
              <a:t>bezpečnosť</a:t>
            </a:r>
            <a:r>
              <a:rPr lang="en-US" sz="2400" dirty="0"/>
              <a:t> – </a:t>
            </a:r>
            <a:r>
              <a:rPr lang="en-US" sz="2400" dirty="0" err="1"/>
              <a:t>Dynamické</a:t>
            </a:r>
            <a:r>
              <a:rPr lang="en-US" sz="2400" dirty="0"/>
              <a:t> </a:t>
            </a:r>
            <a:r>
              <a:rPr lang="en-US" sz="2400" dirty="0" err="1"/>
              <a:t>prideľovanie</a:t>
            </a:r>
            <a:r>
              <a:rPr lang="en-US" sz="2400" dirty="0"/>
              <a:t>, </a:t>
            </a:r>
            <a:r>
              <a:rPr lang="en-US" sz="2400" dirty="0" err="1"/>
              <a:t>nie</a:t>
            </a:r>
            <a:r>
              <a:rPr lang="en-US" sz="2400" dirty="0"/>
              <a:t> </a:t>
            </a:r>
            <a:r>
              <a:rPr lang="en-US" sz="2400" dirty="0" err="1"/>
              <a:t>statické</a:t>
            </a:r>
            <a:endParaRPr lang="en-US" sz="2400" dirty="0"/>
          </a:p>
          <a:p>
            <a:r>
              <a:rPr lang="en-US" sz="2400" dirty="0"/>
              <a:t>WPA2-PSK </a:t>
            </a:r>
            <a:r>
              <a:rPr lang="en-US" sz="2400" dirty="0" err="1"/>
              <a:t>na</a:t>
            </a:r>
            <a:r>
              <a:rPr lang="en-US" sz="2400" dirty="0"/>
              <a:t> Wi-Fi – </a:t>
            </a:r>
            <a:r>
              <a:rPr lang="en-US" sz="2400" dirty="0" err="1"/>
              <a:t>Šifrované</a:t>
            </a:r>
            <a:r>
              <a:rPr lang="en-US" sz="2400" dirty="0"/>
              <a:t> </a:t>
            </a:r>
            <a:r>
              <a:rPr lang="en-US" sz="2400" dirty="0" err="1"/>
              <a:t>bezdrôtové</a:t>
            </a:r>
            <a:r>
              <a:rPr lang="en-US" sz="2400" dirty="0"/>
              <a:t> </a:t>
            </a:r>
            <a:r>
              <a:rPr lang="en-US" sz="2400" dirty="0" err="1"/>
              <a:t>komunikácia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400" dirty="0" err="1"/>
              <a:t>Bezpečnostné</a:t>
            </a:r>
            <a:r>
              <a:rPr lang="en-US" sz="5400" dirty="0"/>
              <a:t> </a:t>
            </a:r>
            <a:r>
              <a:rPr lang="en-US" sz="5400" dirty="0" err="1"/>
              <a:t>riziká</a:t>
            </a:r>
            <a:r>
              <a:rPr lang="en-US" sz="5400" dirty="0"/>
              <a:t> a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VLAN hopping – </a:t>
            </a:r>
            <a:r>
              <a:rPr lang="en-US" sz="2000" dirty="0" err="1"/>
              <a:t>zakázať</a:t>
            </a:r>
            <a:r>
              <a:rPr lang="en-US" sz="2000" dirty="0"/>
              <a:t> DTP</a:t>
            </a:r>
          </a:p>
          <a:p>
            <a:r>
              <a:rPr lang="en-US" sz="2000" dirty="0" err="1"/>
              <a:t>Fyzický</a:t>
            </a:r>
            <a:r>
              <a:rPr lang="en-US" sz="2000" dirty="0"/>
              <a:t> </a:t>
            </a:r>
            <a:r>
              <a:rPr lang="en-US" sz="2000" dirty="0" err="1"/>
              <a:t>prístup</a:t>
            </a:r>
            <a:r>
              <a:rPr lang="en-US" sz="2000" dirty="0"/>
              <a:t> – Port Security</a:t>
            </a:r>
          </a:p>
          <a:p>
            <a:r>
              <a:rPr lang="en-US" sz="2000" dirty="0"/>
              <a:t>Telnet – </a:t>
            </a:r>
            <a:r>
              <a:rPr lang="en-US" sz="2000" dirty="0" err="1"/>
              <a:t>použiť</a:t>
            </a:r>
            <a:r>
              <a:rPr lang="en-US" sz="2000" dirty="0"/>
              <a:t> SSH</a:t>
            </a:r>
          </a:p>
          <a:p>
            <a:r>
              <a:rPr lang="en-US" sz="2000" dirty="0"/>
              <a:t>ARP spoofing – DAI</a:t>
            </a:r>
          </a:p>
          <a:p>
            <a:r>
              <a:rPr lang="en-US" sz="2000" dirty="0"/>
              <a:t>Rogue AP – WPA3</a:t>
            </a:r>
          </a:p>
          <a:p>
            <a:r>
              <a:rPr lang="en-US" sz="2000" dirty="0" err="1"/>
              <a:t>Predvolené</a:t>
            </a:r>
            <a:r>
              <a:rPr lang="en-US" sz="2000" dirty="0"/>
              <a:t> </a:t>
            </a:r>
            <a:r>
              <a:rPr lang="en-US" sz="2000" dirty="0" err="1"/>
              <a:t>heslá</a:t>
            </a:r>
            <a:r>
              <a:rPr lang="en-US" sz="2000" dirty="0"/>
              <a:t> – </a:t>
            </a:r>
            <a:r>
              <a:rPr lang="en-US" sz="2000" dirty="0" err="1"/>
              <a:t>okamžitá</a:t>
            </a:r>
            <a:r>
              <a:rPr lang="en-US" sz="2000" dirty="0"/>
              <a:t> </a:t>
            </a:r>
            <a:r>
              <a:rPr lang="en-US" sz="2000" dirty="0" err="1"/>
              <a:t>zmena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 dirty="0" err="1"/>
              <a:t>Testovanie</a:t>
            </a:r>
            <a:r>
              <a:rPr lang="en-US" sz="6700" dirty="0"/>
              <a:t> a </a:t>
            </a:r>
            <a:r>
              <a:rPr lang="en-US" sz="6700" dirty="0" err="1"/>
              <a:t>overenie</a:t>
            </a:r>
            <a:endParaRPr lang="en-US" sz="6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Ping testy – </a:t>
            </a:r>
            <a:r>
              <a:rPr lang="en-US" sz="2400" dirty="0" err="1"/>
              <a:t>povolené</a:t>
            </a:r>
            <a:r>
              <a:rPr lang="en-US" sz="2400" dirty="0"/>
              <a:t> a </a:t>
            </a:r>
            <a:r>
              <a:rPr lang="en-US" sz="2400" dirty="0" err="1"/>
              <a:t>blokované</a:t>
            </a:r>
            <a:endParaRPr lang="en-US" sz="2400" dirty="0"/>
          </a:p>
          <a:p>
            <a:r>
              <a:rPr lang="en-US" sz="2400" dirty="0"/>
              <a:t>HTTP </a:t>
            </a:r>
            <a:r>
              <a:rPr lang="en-US" sz="2400" dirty="0" err="1"/>
              <a:t>prístup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server</a:t>
            </a:r>
          </a:p>
          <a:p>
            <a:r>
              <a:rPr lang="en-US" sz="2400" dirty="0"/>
              <a:t>DHCP </a:t>
            </a:r>
            <a:r>
              <a:rPr lang="en-US" sz="2400" dirty="0" err="1"/>
              <a:t>automatické</a:t>
            </a:r>
            <a:r>
              <a:rPr lang="en-US" sz="2400" dirty="0"/>
              <a:t> </a:t>
            </a:r>
            <a:r>
              <a:rPr lang="en-US" sz="2400" dirty="0" err="1"/>
              <a:t>prideľovanie</a:t>
            </a:r>
            <a:r>
              <a:rPr lang="en-US" sz="2400" dirty="0"/>
              <a:t> 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dirty="0" err="1"/>
              <a:t>Budúce</a:t>
            </a:r>
            <a:r>
              <a:rPr lang="en-US" sz="4800" dirty="0"/>
              <a:t> </a:t>
            </a:r>
            <a:r>
              <a:rPr lang="en-US" sz="4800" dirty="0" err="1"/>
              <a:t>vylepšenia</a:t>
            </a:r>
            <a:r>
              <a:rPr lang="en-US" sz="4800" dirty="0"/>
              <a:t> a </a:t>
            </a:r>
            <a:r>
              <a:rPr lang="en-US" sz="4800" dirty="0" err="1"/>
              <a:t>škálovateľnosť</a:t>
            </a:r>
            <a:endParaRPr lang="en-US" sz="48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r>
              <a:rPr lang="en-US" sz="2200" dirty="0" err="1"/>
              <a:t>Pridanie</a:t>
            </a:r>
            <a:r>
              <a:rPr lang="en-US" sz="2200" dirty="0"/>
              <a:t> </a:t>
            </a:r>
            <a:r>
              <a:rPr lang="en-US" sz="2200" dirty="0" err="1"/>
              <a:t>novej</a:t>
            </a:r>
            <a:r>
              <a:rPr lang="en-US" sz="2200" dirty="0"/>
              <a:t> VLAN</a:t>
            </a:r>
          </a:p>
          <a:p>
            <a:r>
              <a:rPr lang="en-US" sz="2200" dirty="0" err="1"/>
              <a:t>Nový</a:t>
            </a:r>
            <a:r>
              <a:rPr lang="en-US" sz="2200" dirty="0"/>
              <a:t> DHCP pool</a:t>
            </a:r>
          </a:p>
          <a:p>
            <a:r>
              <a:rPr lang="en-US" sz="2200" dirty="0" err="1"/>
              <a:t>Úprava</a:t>
            </a:r>
            <a:r>
              <a:rPr lang="en-US" sz="2200" dirty="0"/>
              <a:t> ACL</a:t>
            </a:r>
          </a:p>
          <a:p>
            <a:r>
              <a:rPr lang="en-US" sz="2200" dirty="0"/>
              <a:t>802.1X</a:t>
            </a:r>
          </a:p>
          <a:p>
            <a:r>
              <a:rPr lang="en-US" sz="2200" dirty="0"/>
              <a:t>TACACS+</a:t>
            </a:r>
          </a:p>
          <a:p>
            <a:r>
              <a:rPr lang="en-US" sz="2200" dirty="0"/>
              <a:t>VPN</a:t>
            </a:r>
          </a:p>
          <a:p>
            <a:r>
              <a:rPr lang="en-US" sz="2200" dirty="0"/>
              <a:t>IDS/IPS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US" sz="5200"/>
              <a:t>Záver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r>
              <a:rPr lang="en-US" sz="2000"/>
              <a:t>Bezpečná segmentovaná sieť</a:t>
            </a:r>
          </a:p>
          <a:p>
            <a:r>
              <a:rPr lang="en-US" sz="2000"/>
              <a:t>Jednoduché riadenie</a:t>
            </a:r>
          </a:p>
          <a:p>
            <a:r>
              <a:rPr lang="en-US" sz="2000"/>
              <a:t>Flexibilná architektúra</a:t>
            </a:r>
          </a:p>
          <a:p>
            <a:r>
              <a:rPr lang="en-US" sz="2000"/>
              <a:t>Podnikový štandard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790</Words>
  <Application>Microsoft Macintosh PowerPoint</Application>
  <PresentationFormat>Widescreen</PresentationFormat>
  <Paragraphs>121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Podniková sieť s VLANmi</vt:lpstr>
      <vt:lpstr>PowerPoint Presentation</vt:lpstr>
      <vt:lpstr>Topológia siete</vt:lpstr>
      <vt:lpstr>VLAN tabuľka a podsiete</vt:lpstr>
      <vt:lpstr>Čo sú VLANy a prečo ich používame?</vt:lpstr>
      <vt:lpstr>Switch konfigurácia (VLAN vytvorenie)</vt:lpstr>
      <vt:lpstr>Router konfigurácia (Inter-VLAN smerovanie)</vt:lpstr>
      <vt:lpstr>DHCP konfigurácia</vt:lpstr>
      <vt:lpstr>Bezpečnosť – Access Control Lists (ACLs)</vt:lpstr>
      <vt:lpstr>Prečo sme vybrali túto architektúru?</vt:lpstr>
      <vt:lpstr>Implementované bezpečnostné prvky</vt:lpstr>
      <vt:lpstr>Bezpečnostné riziká a mitigation</vt:lpstr>
      <vt:lpstr>Testovanie a overenie</vt:lpstr>
      <vt:lpstr>Budúce vylepšenia a škálovateľnosť</vt:lpstr>
      <vt:lpstr>Záver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Rastislav Lehocky</cp:lastModifiedBy>
  <cp:revision>4</cp:revision>
  <dcterms:created xsi:type="dcterms:W3CDTF">2013-01-27T09:14:16Z</dcterms:created>
  <dcterms:modified xsi:type="dcterms:W3CDTF">2026-01-08T07:42:11Z</dcterms:modified>
  <cp:category/>
</cp:coreProperties>
</file>